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xwJjYghLLOpwFd0nnfHwD8WCf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658" y="-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PROIECT CRUISE CONTROL ADAPTIV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Sistem Autonom de Navigație bazat pe Computer Vision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743200" y="3017520"/>
            <a:ext cx="36576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Student: </a:t>
            </a: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Kovacs Erik</a:t>
            </a:r>
            <a:b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Coordonator: </a:t>
            </a: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Conf. Dr. Ing. Roxana Rusu Both</a:t>
            </a:r>
            <a:b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Sisteme Bazate pe Cunoaștere - Anul III, Semestrul 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914400" y="1371600"/>
            <a:ext cx="731520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1. Context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și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 smtClean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Obiective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Fundamentare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Teoretică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(FCN, YOLO</a:t>
            </a:r>
            <a:r>
              <a:rPr lang="en-US" sz="1800" b="1" i="0" u="none" strike="noStrike" cap="none" dirty="0" smtClean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Arhitectura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 smtClean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Sistemului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4. Dataset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și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 smtClean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Preprocesare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Implementare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și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 smtClean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Antrenare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Rezultate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 smtClean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Experimentale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Decizie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800" b="1" i="0" u="none" strike="noStrike" cap="none" dirty="0" err="1" smtClean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Scenarii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Concluzii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și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Dezvoltări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Viitoare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Context și Obiective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40080" y="173736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Vehiculele autonome necesită percepție și interpretare în timp real a mediului rutier pentru adaptare la trafic, vreme și obstacole.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Scopul Proiectului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937760" y="173736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Dezvoltarea unui sistem autonom de navigație bazat pe învățare automată și viziune computerizată.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Obiective Principale: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40080" y="3474720"/>
            <a:ext cx="7863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Segmentare semantică (12 clase) pentru identificare elementelor scenei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Detecție obiecte (YOLO) pentru recunoaștere semne rutiere și participanți trafic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Sistem de decizie adaptiv la condițiile meteo și proximitate vehicule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Segmentare Semantică - FCN-ResNet50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Ce este Segmentarea Semantică?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40080" y="169164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Clasificare pixel-by-pixel a imaginii în clase semantice. Oferă înțelegere precisă, la nivel de pixel, a scenei.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40080" y="2560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Arhitectura FCN: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40080" y="292608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Backbone ResNet50 (extracție features)</a:t>
            </a:r>
            <a:b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Straturi deconvoluție pentru upsampling</a:t>
            </a:r>
            <a:b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Skip connections (detalii fine)</a:t>
            </a:r>
            <a:b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End-to-end, fără fully-connected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754893" y="983043"/>
            <a:ext cx="3931800" cy="3474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937750" y="1097278"/>
            <a:ext cx="356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 Clase Identificate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754900" y="2755650"/>
            <a:ext cx="1553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Traffic Sign</a:t>
            </a:r>
            <a:b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Building</a:t>
            </a:r>
            <a:b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Fence</a:t>
            </a:r>
            <a:b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4. Pedestrian</a:t>
            </a:r>
            <a:b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5. Pole</a:t>
            </a:r>
            <a:b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6. Road Line</a:t>
            </a:r>
            <a:b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6935418" y="1670379"/>
            <a:ext cx="14385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7. Road</a:t>
            </a:r>
            <a:b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8. Sidewalk</a:t>
            </a:r>
            <a:b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9. Vegetation</a:t>
            </a:r>
            <a:b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10. Car</a:t>
            </a:r>
            <a:b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11. Wall</a:t>
            </a:r>
            <a:b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12. Unlabeled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Detecție Obiecte - YOLOv8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1097280"/>
            <a:ext cx="41148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YOLO (You Only Look Once)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169164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Abordează detecția ca o sarcină de regresie unică, spre deosebire de metodele clasice cu region proposals.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" y="24231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Caracteristici YOLOv8: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40080" y="274320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 b="0" i="0" u="none" strike="noStrike" cap="none" dirty="0" err="1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CSPDarknet</a:t>
            </a:r>
            <a: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smtClean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 b="0" i="0" u="none" strike="noStrike" cap="none" dirty="0" err="1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PANet</a:t>
            </a: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pentru</a:t>
            </a: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fuziune</a:t>
            </a: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 multi-</a:t>
            </a:r>
            <a:r>
              <a:rPr lang="en-US" sz="1300" b="0" i="0" u="none" strike="noStrike" cap="none" dirty="0" err="1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scară</a:t>
            </a: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Anchor-free detection</a:t>
            </a:r>
            <a:b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 b="0" i="0" u="none" strike="noStrike" cap="none" dirty="0" err="1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Procesare</a:t>
            </a: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timp</a:t>
            </a:r>
            <a:r>
              <a:rPr lang="en-US" sz="1300" b="0" i="0" u="none" strike="noStrike" cap="none" dirty="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 real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754880" y="1097280"/>
            <a:ext cx="3931920" cy="2103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754885" y="1170385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Obiecte Detectate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937750" y="2560176"/>
            <a:ext cx="356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Car, Truck, Bus</a:t>
            </a:r>
            <a:b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Pedestrian, Bicycle</a:t>
            </a:r>
            <a:b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Traffic Light (red/green)</a:t>
            </a:r>
            <a:b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Stop Sign</a:t>
            </a:r>
            <a:b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Speed Limit Signs</a:t>
            </a:r>
            <a:b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Fire Hydrant, Motorcycle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Avantaje YOLO: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Viteza ridicată (procesare frame-by-frame în timp real), acuratețe competitivă, detectare multiplă obiecte în single forward pass.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Arhitectura Sistemului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Modul 1: Segmentare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40080" y="164592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FCN-ResNet50 pentru clasificare pixel-level. Output: mască semantică 96×192 cu 12 clase.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Modul 2: Detecție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937760" y="164592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YOLOv8 pentru recunoaștere obiecte. Output: bounding boxes + confidence + clase.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2651760"/>
            <a:ext cx="8229600" cy="1920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45955" y="2331715"/>
            <a:ext cx="78639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 de Decizie Ierarhic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63150" y="3291775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Prioritate 1: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Oprire pentru vehicul prea aproape (Area Ratio &gt; 0.15)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Prioritate 2: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Frânare urgență pentru Stop/Semafor roșu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Prioritate 3: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Respectare limite de viteză detectate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Prioritate 4: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Adaptare viteză la condițiile meteo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Prioritate 5: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Cruise control normal (50 km/h)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Dataset și Preprocesare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57200" y="1097280"/>
            <a:ext cx="41148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640080" y="1120148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Dataset CARLA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40080" y="164592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28 videoclipuri în diverse condiții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Vreme: sunny, cloudy, rainy, foggy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Scenarii urbane variate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Imagini + măști RGB semantice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754880" y="1097280"/>
            <a:ext cx="3931920" cy="2011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4754885" y="1097285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Split Dataset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754875" y="1996855"/>
            <a:ext cx="35661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Training: 70%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(19 videoclipuri)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Validation: 15%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(4 videoclipuri)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Test: 15%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(5 videoclipuri)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640080" y="3314682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Preprocesare: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40075" y="3794754"/>
            <a:ext cx="78639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Redimensionare: 96×192 pixeli (optimizat CPU)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Imagini: BILINEAR resize, Măști: NEAREST (păstrare clase exacte)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Augmentare: horizontal flip (50% probabilitate)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Conversie RGB → Class Index folosind LUT (lookup table)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Configurație Antrenare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640080" y="1120148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Hiperparametri FCN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40080" y="1691640"/>
            <a:ext cx="374904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Model: </a:t>
            </a: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FCN-ResNet50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Epoci: </a:t>
            </a: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2 (optimizat CPU)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Batch Size: </a:t>
            </a: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Optimizer: </a:t>
            </a: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Adam (lr=1e-4)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Loss: </a:t>
            </a: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CrossEntropyLoss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Ignore Index: </a:t>
            </a: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255 (pixeli necunoscuți)</a:t>
            </a:r>
            <a:b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Device: </a:t>
            </a: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CPU (Intel i7 12th gen)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4859335" y="1120123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Metrici de Evaluare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754875" y="2053620"/>
            <a:ext cx="35661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Pixel Accuracy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% pixeli corect clasificați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Mean IoU (mIoU)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Suprapunere predicții/GT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IoU per clasă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Performanță individuală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Optimizări CPU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937760" y="352044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Rezoluție redusă (96×192)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Validare limitată (150 batches)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Timpul antrenare: ~20-30 min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Fără cache sau prefetch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Rezultate - Segmentare Semantică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97280"/>
            <a:ext cx="8229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Input / Ground Truth / Prediction - Exemple reprezentative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Rezultate - Metrici de Performanță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457200" y="1097280"/>
            <a:ext cx="274320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90.71%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45720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Pixel Accuracy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3383280" y="1097280"/>
            <a:ext cx="274320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3383280" y="1280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48.99%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338328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 IoU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309360" y="1097280"/>
            <a:ext cx="2377440" cy="1188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6309360" y="12801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0.2616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6309360" y="18288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Loss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468880"/>
            <a:ext cx="82296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Performanță per Clasă (IoU)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97280"/>
            <a:ext cx="41148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1"/>
          <p:cNvSpPr/>
          <p:nvPr/>
        </p:nvSpPr>
        <p:spPr>
          <a:xfrm>
            <a:off x="4754880" y="1097280"/>
            <a:ext cx="393192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IoU Ridicat (&gt;70%)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 (90.92%), Car (78.37%), Unlabeled (92.49%), Building (80.15%)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4754880" y="2240280"/>
            <a:ext cx="393192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IoU Mediu (40-70%)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4937760" y="26974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Sidewalk (65.05%), Vegetation (59.33%), Wall (52.75%)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4754880" y="3383280"/>
            <a:ext cx="393192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4937760" y="3520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IoU Scăzut (&lt;40%)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4937760" y="384048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Road Line (25.21%), Pedestrian (23.40%), Fence (16.46%), Pole (3.83%), Traffic Sign (0%)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457200" y="2651760"/>
            <a:ext cx="41148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640080" y="28346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Observații: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40080" y="3154680"/>
            <a:ext cx="3749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Clase mari (Road, Car): performanță excelentă</a:t>
            </a:r>
            <a:b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Obiecte mici (Traffic Sign, Pole): IoU scăzut din cauza rezoluției reduse (96×192)</a:t>
            </a:r>
            <a:b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Clasele critice pentru navigație au rezultate foarte bune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Scenariu: CRUISING - Vreme Normală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97280"/>
            <a:ext cx="5029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2"/>
          <p:cNvSpPr/>
          <p:nvPr/>
        </p:nvSpPr>
        <p:spPr>
          <a:xfrm>
            <a:off x="5669280" y="1097280"/>
            <a:ext cx="30175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5852160" y="12801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Condiții: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5852160" y="160020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Vreme: Sunny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Lead Vehicle Area Ratio: 0.041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Distanță: Sigură (&lt; 0.08)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Detectări: car, bicycle, person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5852160" y="26517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Decizie: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5852160" y="297180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ACȚIUNE: CRUISIN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Viteză: 50 km/h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Factor meteo: 100%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Menține viteza normală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Vreme favorabilă, nicio urgență detectată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Scenarii: Adaptare Vreme &amp; Frânare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97280"/>
            <a:ext cx="411480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RAINY - Viteză Redusă (38 km/h)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4880" y="1097280"/>
            <a:ext cx="393192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/>
          <p:nvPr/>
        </p:nvSpPr>
        <p:spPr>
          <a:xfrm>
            <a:off x="4754880" y="3383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96167"/>
                </a:solidFill>
                <a:latin typeface="Arial"/>
                <a:ea typeface="Arial"/>
                <a:cs typeface="Arial"/>
                <a:sym typeface="Arial"/>
              </a:rPr>
              <a:t>BRAKING - Vehicul Aproape (22 km/h)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457200" y="3840480"/>
            <a:ext cx="411480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640080" y="39776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Adaptare Meteo: Rainy → 75% viteză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4754880" y="3840480"/>
            <a:ext cx="3931920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4937760" y="39776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Frânare: Area Ratio 0.109 (0.08-0.15)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Scenariu: STOPPED - Coliziune Iminentă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97280"/>
            <a:ext cx="5029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/>
          <p:nvPr/>
        </p:nvSpPr>
        <p:spPr>
          <a:xfrm>
            <a:off x="5669280" y="1097280"/>
            <a:ext cx="3017520" cy="2743200"/>
          </a:xfrm>
          <a:prstGeom prst="rect">
            <a:avLst/>
          </a:prstGeom>
          <a:solidFill>
            <a:srgbClr val="990011"/>
          </a:solidFill>
          <a:ln>
            <a:noFill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5852160" y="13716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URGENȚĂ MAXIMĂ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5852160" y="1828800"/>
            <a:ext cx="26517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Area Ratio: 0.239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(&gt; 0.15 prag STOP)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ACȚIUNE: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STOPPED - VEHICLE AHEAD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Viteză: 0 km/h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Frânare completă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Prevenție coliziune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Sistem de siguranță: oprire imediată la proximitate critică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Concluzii și Dezvoltări Viitoare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457200" y="1371600"/>
            <a:ext cx="411480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Realizări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640080" y="2011680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Segmentare semantică: 90.71% pixel accuracy, 48.99% mIoU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Detecție YOLO în timp real pentru obiecte rutiere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Sistem decizie ierarhic adaptiv la vreme și trafic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Metrica Lead Vehicle Area Ratio eficientă pentru proximitate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Optimizare CPU: antrenare în 20-30 min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640080" y="35661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Limitări: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640080" y="38862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IoU scăzut obiecte mici (rezoluție 96×192), doar 2 epoci, estimare distanță pe bbox area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Dezvoltări Viitoare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4937760" y="201168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Rezoluție mai mare (256×512) pe GPU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Extindere la 10-20 epoci pentru convergență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Depth estimation pentru distanță 3D precisă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Planificare traiectorie (schimbare bandă, intersecții)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Predicție traiectorie vehicule/pietoni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Arhitecturi avansate (DeepLabV3+, HRNet)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• Testare în simulatorul CARLA complet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Arial"/>
              <a:buNone/>
            </a:pPr>
            <a:r>
              <a:rPr lang="en-US" sz="2800" b="1" i="1" u="none" strike="noStrike" cap="non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Mulțumesc pentru atenție!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PresentationFormat>On-screen Show (16:9)</PresentationFormat>
  <Paragraphs>191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Kovacs Erik</dc:creator>
  <cp:lastModifiedBy>User</cp:lastModifiedBy>
  <cp:revision>3</cp:revision>
  <dcterms:created xsi:type="dcterms:W3CDTF">2026-02-13T17:55:56Z</dcterms:created>
  <dcterms:modified xsi:type="dcterms:W3CDTF">2026-02-13T18:36:40Z</dcterms:modified>
</cp:coreProperties>
</file>